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bold.fntdata"/><Relationship Id="rId16" Type="http://schemas.openxmlformats.org/officeDocument/2006/relationships/font" Target="fonts/Roboto-regular.fntdata"/><Relationship Id="rId5" Type="http://schemas.openxmlformats.org/officeDocument/2006/relationships/notesMaster" Target="notesMasters/notesMaster1.xml"/><Relationship Id="rId19" Type="http://schemas.openxmlformats.org/officeDocument/2006/relationships/font" Target="fonts/Roboto-boldItalic.fntdata"/><Relationship Id="rId6" Type="http://schemas.openxmlformats.org/officeDocument/2006/relationships/slide" Target="slides/slide1.xml"/><Relationship Id="rId18"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48a96a75b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48a96a75b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cc7494f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7cc7494f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8a96a75b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8a96a75b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48a96a75b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48a96a75b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8a96a75b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8a96a75b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dab979bb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7dab979bb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7dab979bb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7dab979b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8a96a75b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48a96a75b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48a96a75b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48a96a75b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data.calgary.ca/d/Open-Data-Terms/u45n-7awa" TargetMode="External"/><Relationship Id="rId4" Type="http://schemas.openxmlformats.org/officeDocument/2006/relationships/hyperlink" Target="https://data.calgary.ca/stories/s/u45n-7awa"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calgary.ca/content/dam/www/research-and-data/survey-calgarians/2024-fall-survey-of-calgarians.pdf" TargetMode="External"/><Relationship Id="rId4" Type="http://schemas.openxmlformats.org/officeDocument/2006/relationships/hyperlink" Target="https://www.calgary.ca/content/dam/www/cfod/finance/documents/plans-budgets-and-financial-reports/2024-mid-year-progress-update.pdf" TargetMode="External"/><Relationship Id="rId5" Type="http://schemas.openxmlformats.org/officeDocument/2006/relationships/hyperlink" Target="https://www.calgary.ca/content/dam/www/cfod/csc/documents/cit-sat/2024-Spring-Survey-of-Calgarians-Final-Report.pdf" TargetMode="External"/><Relationship Id="rId6" Type="http://schemas.openxmlformats.org/officeDocument/2006/relationships/hyperlink" Target="https://data.calgary.ca/Business-and-Economic-Activity/2024-Mid-Year-Progress-Report-Performance-Measures/2tzz-grag/about_data" TargetMode="External"/><Relationship Id="rId7" Type="http://schemas.openxmlformats.org/officeDocument/2006/relationships/hyperlink" Target="https://pngtree.com/freepng/calgary-canada-city-skyline-vector-silhouette-black-office-calgary-vector_9424892.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80000"/>
        </a:solidFill>
      </p:bgPr>
    </p:bg>
    <p:spTree>
      <p:nvGrpSpPr>
        <p:cNvPr id="53" name="Shape 53"/>
        <p:cNvGrpSpPr/>
        <p:nvPr/>
      </p:nvGrpSpPr>
      <p:grpSpPr>
        <a:xfrm>
          <a:off x="0" y="0"/>
          <a:ext cx="0" cy="0"/>
          <a:chOff x="0" y="0"/>
          <a:chExt cx="0" cy="0"/>
        </a:xfrm>
      </p:grpSpPr>
      <p:pic>
        <p:nvPicPr>
          <p:cNvPr id="54" name="Google Shape;54;p13" title="pngtree-calgary-canada-city-skyline-vector-silhouette-black-office-calgary-vector-png-image_9115874.png"/>
          <p:cNvPicPr preferRelativeResize="0"/>
          <p:nvPr/>
        </p:nvPicPr>
        <p:blipFill>
          <a:blip r:embed="rId3">
            <a:alphaModFix amt="37000"/>
          </a:blip>
          <a:stretch>
            <a:fillRect/>
          </a:stretch>
        </p:blipFill>
        <p:spPr>
          <a:xfrm>
            <a:off x="0" y="0"/>
            <a:ext cx="9143999" cy="5143500"/>
          </a:xfrm>
          <a:prstGeom prst="rect">
            <a:avLst/>
          </a:prstGeom>
          <a:noFill/>
          <a:ln>
            <a:noFill/>
          </a:ln>
        </p:spPr>
      </p:pic>
      <p:sp>
        <p:nvSpPr>
          <p:cNvPr id="55" name="Google Shape;55;p13"/>
          <p:cNvSpPr txBox="1"/>
          <p:nvPr>
            <p:ph type="ctrTitle"/>
          </p:nvPr>
        </p:nvSpPr>
        <p:spPr>
          <a:xfrm>
            <a:off x="170700" y="591750"/>
            <a:ext cx="89733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chemeClr val="lt1"/>
                </a:solidFill>
              </a:rPr>
              <a:t>2024 Mid-Year City Progress Analysis</a:t>
            </a:r>
            <a:endParaRPr b="1">
              <a:solidFill>
                <a:schemeClr val="lt1"/>
              </a:solidFill>
            </a:endParaRPr>
          </a:p>
        </p:txBody>
      </p:sp>
      <p:sp>
        <p:nvSpPr>
          <p:cNvPr id="56" name="Google Shape;56;p13"/>
          <p:cNvSpPr txBox="1"/>
          <p:nvPr>
            <p:ph idx="1" type="subTitle"/>
          </p:nvPr>
        </p:nvSpPr>
        <p:spPr>
          <a:xfrm>
            <a:off x="311700" y="4050275"/>
            <a:ext cx="8520600" cy="64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By Hannan Hassan</a:t>
            </a:r>
            <a:endParaRPr>
              <a:solidFill>
                <a:schemeClr val="lt1"/>
              </a:solidFill>
            </a:endParaRPr>
          </a:p>
        </p:txBody>
      </p:sp>
      <p:sp>
        <p:nvSpPr>
          <p:cNvPr id="57" name="Google Shape;57;p13"/>
          <p:cNvSpPr txBox="1"/>
          <p:nvPr/>
        </p:nvSpPr>
        <p:spPr>
          <a:xfrm>
            <a:off x="311700" y="3203575"/>
            <a:ext cx="8443800" cy="513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lang="en" sz="1100">
                <a:solidFill>
                  <a:schemeClr val="lt1"/>
                </a:solidFill>
              </a:rPr>
              <a:t>Contains information licensed under the Open Government Licence – City of Calgary. Data analysis of the 2024 Mid-Year Progress of Calgary's Budget performance measures.  All data is owned by the City of Calgary and is used under the Open Government License. </a:t>
            </a:r>
            <a:endParaRPr sz="1100">
              <a:solidFill>
                <a:schemeClr val="lt1"/>
              </a:solidFill>
            </a:endParaRPr>
          </a:p>
          <a:p>
            <a:pPr indent="0" lvl="0" marL="0" rtl="0" algn="ctr">
              <a:spcBef>
                <a:spcPts val="1200"/>
              </a:spcBef>
              <a:spcAft>
                <a:spcPts val="0"/>
              </a:spcAft>
              <a:buNone/>
            </a:pPr>
            <a:r>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7683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Disclaimer</a:t>
            </a:r>
            <a:endParaRPr b="1"/>
          </a:p>
        </p:txBody>
      </p:sp>
      <p:sp>
        <p:nvSpPr>
          <p:cNvPr id="63" name="Google Shape;63;p14"/>
          <p:cNvSpPr txBox="1"/>
          <p:nvPr>
            <p:ph idx="1" type="body"/>
          </p:nvPr>
        </p:nvSpPr>
        <p:spPr>
          <a:xfrm>
            <a:off x="311700" y="1197375"/>
            <a:ext cx="7898400" cy="3324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1300">
                <a:solidFill>
                  <a:srgbClr val="FF0000"/>
                </a:solidFill>
              </a:rPr>
              <a:t>Contains information licensed under the Open Government Licence – City of Calgary. Data analysis of the 2024 Mid-Year Progress of Calgary's Budget performance measures. </a:t>
            </a:r>
            <a:r>
              <a:rPr b="1" lang="en" sz="1300">
                <a:solidFill>
                  <a:srgbClr val="FF0000"/>
                </a:solidFill>
                <a:highlight>
                  <a:srgbClr val="FFFFFF"/>
                </a:highlight>
              </a:rPr>
              <a:t>All data is owned by the City of Calgary and is used under the Open Government Licence.</a:t>
            </a:r>
            <a:r>
              <a:rPr lang="en" sz="1300">
                <a:solidFill>
                  <a:srgbClr val="FF0000"/>
                </a:solidFill>
              </a:rPr>
              <a:t> </a:t>
            </a:r>
            <a:endParaRPr sz="1300">
              <a:solidFill>
                <a:srgbClr val="FF0000"/>
              </a:solidFill>
            </a:endParaRPr>
          </a:p>
          <a:p>
            <a:pPr indent="0" lvl="0" marL="0" rtl="0" algn="ctr">
              <a:spcBef>
                <a:spcPts val="1200"/>
              </a:spcBef>
              <a:spcAft>
                <a:spcPts val="0"/>
              </a:spcAft>
              <a:buNone/>
            </a:pPr>
            <a:r>
              <a:rPr lang="en" sz="1300">
                <a:solidFill>
                  <a:srgbClr val="FF0000"/>
                </a:solidFill>
                <a:highlight>
                  <a:srgbClr val="FFFFFF"/>
                </a:highlight>
              </a:rPr>
              <a:t>Data Licence URL: </a:t>
            </a:r>
            <a:r>
              <a:rPr lang="en" sz="1300" u="sng">
                <a:solidFill>
                  <a:srgbClr val="FF0000"/>
                </a:solidFill>
                <a:highlight>
                  <a:srgbClr val="FFFFFF"/>
                </a:highlight>
                <a:hlinkClick r:id="rId3">
                  <a:extLst>
                    <a:ext uri="{A12FA001-AC4F-418D-AE19-62706E023703}">
                      <ahyp:hlinkClr val="tx"/>
                    </a:ext>
                  </a:extLst>
                </a:hlinkClick>
              </a:rPr>
              <a:t>https://data.calgary.ca/d/Open-Data-Terms/u45n-7awa</a:t>
            </a:r>
            <a:endParaRPr sz="1900">
              <a:solidFill>
                <a:srgbClr val="FF0000"/>
              </a:solidFill>
              <a:highlight>
                <a:srgbClr val="FFFFFF"/>
              </a:highlight>
            </a:endParaRPr>
          </a:p>
          <a:p>
            <a:pPr indent="0" lvl="0" marL="0" rtl="0" algn="ctr">
              <a:spcBef>
                <a:spcPts val="1200"/>
              </a:spcBef>
              <a:spcAft>
                <a:spcPts val="0"/>
              </a:spcAft>
              <a:buClr>
                <a:schemeClr val="dk1"/>
              </a:buClr>
              <a:buSzPts val="1100"/>
              <a:buFont typeface="Arial"/>
              <a:buNone/>
            </a:pPr>
            <a:r>
              <a:rPr lang="en" sz="1300">
                <a:solidFill>
                  <a:srgbClr val="FF0000"/>
                </a:solidFill>
              </a:rPr>
              <a:t>For more information visit: </a:t>
            </a:r>
            <a:r>
              <a:rPr lang="en" sz="1300" u="sng">
                <a:solidFill>
                  <a:srgbClr val="FF0000"/>
                </a:solidFill>
                <a:hlinkClick r:id="rId4">
                  <a:extLst>
                    <a:ext uri="{A12FA001-AC4F-418D-AE19-62706E023703}">
                      <ahyp:hlinkClr val="tx"/>
                    </a:ext>
                  </a:extLst>
                </a:hlinkClick>
              </a:rPr>
              <a:t>https://data.calgary.ca/stories/s/u45n-7awa</a:t>
            </a:r>
            <a:endParaRPr sz="1300" u="sng">
              <a:solidFill>
                <a:srgbClr val="FF0000"/>
              </a:solidFill>
            </a:endParaRPr>
          </a:p>
          <a:p>
            <a:pPr indent="0" lvl="0" marL="0" rtl="0" algn="ctr">
              <a:spcBef>
                <a:spcPts val="1200"/>
              </a:spcBef>
              <a:spcAft>
                <a:spcPts val="0"/>
              </a:spcAft>
              <a:buNone/>
            </a:pPr>
            <a:r>
              <a:rPr lang="en" sz="1500">
                <a:solidFill>
                  <a:srgbClr val="1F2328"/>
                </a:solidFill>
                <a:highlight>
                  <a:srgbClr val="FFFFFF"/>
                </a:highlight>
              </a:rPr>
              <a:t>I am not </a:t>
            </a:r>
            <a:r>
              <a:rPr lang="en" sz="1500">
                <a:solidFill>
                  <a:srgbClr val="1F2328"/>
                </a:solidFill>
                <a:highlight>
                  <a:srgbClr val="FFFFFF"/>
                </a:highlight>
              </a:rPr>
              <a:t>endorsed</a:t>
            </a:r>
            <a:r>
              <a:rPr lang="en" sz="1500">
                <a:solidFill>
                  <a:srgbClr val="1F2328"/>
                </a:solidFill>
                <a:highlight>
                  <a:srgbClr val="FFFFFF"/>
                </a:highlight>
              </a:rPr>
              <a:t> by the City of Calgary, this data is simply used for learning purposes. This is </a:t>
            </a:r>
            <a:r>
              <a:rPr b="1" lang="en" sz="1500">
                <a:solidFill>
                  <a:srgbClr val="1F2328"/>
                </a:solidFill>
                <a:highlight>
                  <a:srgbClr val="FFFFFF"/>
                </a:highlight>
              </a:rPr>
              <a:t>NOT</a:t>
            </a:r>
            <a:r>
              <a:rPr lang="en" sz="1500">
                <a:solidFill>
                  <a:srgbClr val="1F2328"/>
                </a:solidFill>
                <a:highlight>
                  <a:srgbClr val="FFFFFF"/>
                </a:highlight>
              </a:rPr>
              <a:t> an </a:t>
            </a:r>
            <a:r>
              <a:rPr lang="en" sz="1500">
                <a:solidFill>
                  <a:srgbClr val="1F2328"/>
                </a:solidFill>
                <a:highlight>
                  <a:srgbClr val="FFFFFF"/>
                </a:highlight>
              </a:rPr>
              <a:t>official</a:t>
            </a:r>
            <a:r>
              <a:rPr lang="en" sz="1500">
                <a:solidFill>
                  <a:srgbClr val="1F2328"/>
                </a:solidFill>
                <a:highlight>
                  <a:srgbClr val="FFFFFF"/>
                </a:highlight>
              </a:rPr>
              <a:t> analysis from the City of Calgary.</a:t>
            </a:r>
            <a:endParaRPr sz="1500">
              <a:solidFill>
                <a:srgbClr val="1F2328"/>
              </a:solidFill>
              <a:highlight>
                <a:srgbClr val="FFFFFF"/>
              </a:highlight>
            </a:endParaRPr>
          </a:p>
          <a:p>
            <a:pPr indent="0" lvl="0" marL="0" rtl="0" algn="l">
              <a:spcBef>
                <a:spcPts val="1200"/>
              </a:spcBef>
              <a:spcAft>
                <a:spcPts val="1200"/>
              </a:spcAft>
              <a:buNone/>
            </a:pPr>
            <a:r>
              <a:t/>
            </a:r>
            <a:endParaRPr sz="1200">
              <a:solidFill>
                <a:srgbClr val="1F2328"/>
              </a:solidFill>
              <a:highlight>
                <a:srgbClr val="FFFFFF"/>
              </a:highlight>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65" name="Google Shape;65;p14"/>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66" name="Google Shape;66;p14"/>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Table of Contents</a:t>
            </a:r>
            <a:endParaRPr b="1"/>
          </a:p>
        </p:txBody>
      </p:sp>
      <p:sp>
        <p:nvSpPr>
          <p:cNvPr id="73" name="Google Shape;73;p15"/>
          <p:cNvSpPr txBox="1"/>
          <p:nvPr>
            <p:ph idx="1" type="body"/>
          </p:nvPr>
        </p:nvSpPr>
        <p:spPr>
          <a:xfrm>
            <a:off x="311700" y="1123575"/>
            <a:ext cx="5067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Overview……………………….….4</a:t>
            </a:r>
            <a:endParaRPr/>
          </a:p>
          <a:p>
            <a:pPr indent="0" lvl="0" marL="0" rtl="0" algn="l">
              <a:spcBef>
                <a:spcPts val="1200"/>
              </a:spcBef>
              <a:spcAft>
                <a:spcPts val="0"/>
              </a:spcAft>
              <a:buNone/>
            </a:pPr>
            <a:r>
              <a:rPr lang="en"/>
              <a:t>Methodology…………….….……..5</a:t>
            </a:r>
            <a:endParaRPr/>
          </a:p>
          <a:p>
            <a:pPr indent="0" lvl="0" marL="0" rtl="0" algn="l">
              <a:spcBef>
                <a:spcPts val="1200"/>
              </a:spcBef>
              <a:spcAft>
                <a:spcPts val="0"/>
              </a:spcAft>
              <a:buNone/>
            </a:pPr>
            <a:r>
              <a:rPr lang="en"/>
              <a:t>Interpreting</a:t>
            </a:r>
            <a:r>
              <a:rPr lang="en"/>
              <a:t> Results….….….……</a:t>
            </a:r>
            <a:r>
              <a:rPr lang="en"/>
              <a:t>.</a:t>
            </a:r>
            <a:r>
              <a:rPr lang="en"/>
              <a:t>6</a:t>
            </a:r>
            <a:endParaRPr/>
          </a:p>
          <a:p>
            <a:pPr indent="0" lvl="0" marL="0" rtl="0" algn="l">
              <a:spcBef>
                <a:spcPts val="1200"/>
              </a:spcBef>
              <a:spcAft>
                <a:spcPts val="0"/>
              </a:spcAft>
              <a:buNone/>
            </a:pPr>
            <a:r>
              <a:rPr lang="en"/>
              <a:t>Limitations and Future Study……9</a:t>
            </a:r>
            <a:endParaRPr/>
          </a:p>
          <a:p>
            <a:pPr indent="0" lvl="0" marL="0" rtl="0" algn="l">
              <a:spcBef>
                <a:spcPts val="1200"/>
              </a:spcBef>
              <a:spcAft>
                <a:spcPts val="1200"/>
              </a:spcAft>
              <a:buNone/>
            </a:pPr>
            <a:r>
              <a:rPr lang="en"/>
              <a:t>References………………………..10</a:t>
            </a:r>
            <a:endParaRPr/>
          </a:p>
        </p:txBody>
      </p:sp>
      <p:sp>
        <p:nvSpPr>
          <p:cNvPr id="74" name="Google Shape;7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5" name="Google Shape;75;p15"/>
          <p:cNvPicPr preferRelativeResize="0"/>
          <p:nvPr/>
        </p:nvPicPr>
        <p:blipFill>
          <a:blip r:embed="rId3">
            <a:alphaModFix/>
          </a:blip>
          <a:stretch>
            <a:fillRect/>
          </a:stretch>
        </p:blipFill>
        <p:spPr>
          <a:xfrm>
            <a:off x="5547449" y="169112"/>
            <a:ext cx="3473701" cy="4805275"/>
          </a:xfrm>
          <a:prstGeom prst="rect">
            <a:avLst/>
          </a:prstGeom>
          <a:noFill/>
          <a:ln>
            <a:noFill/>
          </a:ln>
        </p:spPr>
      </p:pic>
      <p:sp>
        <p:nvSpPr>
          <p:cNvPr id="76" name="Google Shape;76;p15"/>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215375"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Overview</a:t>
            </a:r>
            <a:endParaRPr b="1"/>
          </a:p>
        </p:txBody>
      </p:sp>
      <p:sp>
        <p:nvSpPr>
          <p:cNvPr id="83" name="Google Shape;83;p16"/>
          <p:cNvSpPr txBox="1"/>
          <p:nvPr>
            <p:ph idx="1" type="body"/>
          </p:nvPr>
        </p:nvSpPr>
        <p:spPr>
          <a:xfrm>
            <a:off x="215375" y="1017725"/>
            <a:ext cx="7925700" cy="355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000">
              <a:solidFill>
                <a:srgbClr val="1F2328"/>
              </a:solidFill>
              <a:highlight>
                <a:srgbClr val="FFFFFF"/>
              </a:highlight>
            </a:endParaRPr>
          </a:p>
          <a:p>
            <a:pPr indent="0" lvl="0" marL="0" rtl="0" algn="l">
              <a:spcBef>
                <a:spcPts val="1200"/>
              </a:spcBef>
              <a:spcAft>
                <a:spcPts val="0"/>
              </a:spcAft>
              <a:buNone/>
            </a:pPr>
            <a:r>
              <a:rPr b="1" lang="en" sz="2000">
                <a:solidFill>
                  <a:srgbClr val="666666"/>
                </a:solidFill>
                <a:highlight>
                  <a:srgbClr val="FFFFFF"/>
                </a:highlight>
              </a:rPr>
              <a:t>Research Questions</a:t>
            </a:r>
            <a:r>
              <a:rPr lang="en" sz="2000">
                <a:solidFill>
                  <a:srgbClr val="666666"/>
                </a:solidFill>
                <a:highlight>
                  <a:srgbClr val="FFFFFF"/>
                </a:highlight>
              </a:rPr>
              <a:t>:</a:t>
            </a:r>
            <a:endParaRPr sz="2000">
              <a:solidFill>
                <a:srgbClr val="666666"/>
              </a:solidFill>
              <a:highlight>
                <a:srgbClr val="FFFFFF"/>
              </a:highlight>
            </a:endParaRPr>
          </a:p>
          <a:p>
            <a:pPr indent="-323850" lvl="0" marL="457200" rtl="0" algn="l">
              <a:spcBef>
                <a:spcPts val="1200"/>
              </a:spcBef>
              <a:spcAft>
                <a:spcPts val="0"/>
              </a:spcAft>
              <a:buClr>
                <a:srgbClr val="666666"/>
              </a:buClr>
              <a:buSzPts val="1500"/>
              <a:buAutoNum type="arabicPeriod"/>
            </a:pPr>
            <a:r>
              <a:rPr lang="en" sz="1500">
                <a:solidFill>
                  <a:srgbClr val="666666"/>
                </a:solidFill>
                <a:latin typeface="Roboto"/>
                <a:ea typeface="Roboto"/>
                <a:cs typeface="Roboto"/>
                <a:sym typeface="Roboto"/>
              </a:rPr>
              <a:t>What is the status of Calgary’s development as of 2024?</a:t>
            </a:r>
            <a:endParaRPr sz="1500">
              <a:solidFill>
                <a:srgbClr val="666666"/>
              </a:solidFill>
              <a:highlight>
                <a:srgbClr val="FFFFFF"/>
              </a:highlight>
            </a:endParaRPr>
          </a:p>
          <a:p>
            <a:pPr indent="-323850" lvl="0" marL="457200" rtl="0" algn="l">
              <a:spcBef>
                <a:spcPts val="0"/>
              </a:spcBef>
              <a:spcAft>
                <a:spcPts val="0"/>
              </a:spcAft>
              <a:buClr>
                <a:srgbClr val="666666"/>
              </a:buClr>
              <a:buSzPts val="1500"/>
              <a:buAutoNum type="arabicPeriod"/>
            </a:pPr>
            <a:r>
              <a:rPr lang="en" sz="1500">
                <a:solidFill>
                  <a:srgbClr val="666666"/>
                </a:solidFill>
                <a:latin typeface="Roboto"/>
                <a:ea typeface="Roboto"/>
                <a:cs typeface="Roboto"/>
                <a:sym typeface="Roboto"/>
              </a:rPr>
              <a:t>How are social equity, climate, transit and housing issues being dealt with?</a:t>
            </a:r>
            <a:endParaRPr sz="1500">
              <a:solidFill>
                <a:srgbClr val="666666"/>
              </a:solidFill>
              <a:highlight>
                <a:srgbClr val="FFFFFF"/>
              </a:highlight>
            </a:endParaRPr>
          </a:p>
          <a:p>
            <a:pPr indent="-323850" lvl="0" marL="457200" rtl="0" algn="l">
              <a:spcBef>
                <a:spcPts val="0"/>
              </a:spcBef>
              <a:spcAft>
                <a:spcPts val="0"/>
              </a:spcAft>
              <a:buClr>
                <a:srgbClr val="666666"/>
              </a:buClr>
              <a:buSzPts val="1500"/>
              <a:buAutoNum type="arabicPeriod"/>
            </a:pPr>
            <a:r>
              <a:rPr lang="en" sz="1500">
                <a:solidFill>
                  <a:srgbClr val="666666"/>
                </a:solidFill>
                <a:latin typeface="Roboto"/>
                <a:ea typeface="Roboto"/>
                <a:cs typeface="Roboto"/>
                <a:sym typeface="Roboto"/>
              </a:rPr>
              <a:t>How does data from 2023 compare to 2024 and future </a:t>
            </a:r>
            <a:r>
              <a:rPr lang="en" sz="1500">
                <a:solidFill>
                  <a:srgbClr val="666666"/>
                </a:solidFill>
                <a:latin typeface="Roboto"/>
                <a:ea typeface="Roboto"/>
                <a:cs typeface="Roboto"/>
                <a:sym typeface="Roboto"/>
              </a:rPr>
              <a:t>initiatives</a:t>
            </a:r>
            <a:r>
              <a:rPr lang="en" sz="1500">
                <a:solidFill>
                  <a:srgbClr val="666666"/>
                </a:solidFill>
                <a:latin typeface="Roboto"/>
                <a:ea typeface="Roboto"/>
                <a:cs typeface="Roboto"/>
                <a:sym typeface="Roboto"/>
              </a:rPr>
              <a:t> planned by the city?</a:t>
            </a:r>
            <a:endParaRPr sz="1500">
              <a:solidFill>
                <a:srgbClr val="666666"/>
              </a:solidFill>
              <a:highlight>
                <a:srgbClr val="FFFFFF"/>
              </a:highlight>
            </a:endParaRPr>
          </a:p>
          <a:p>
            <a:pPr indent="0" lvl="0" marL="0" rtl="0" algn="l">
              <a:spcBef>
                <a:spcPts val="1200"/>
              </a:spcBef>
              <a:spcAft>
                <a:spcPts val="0"/>
              </a:spcAft>
              <a:buNone/>
            </a:pPr>
            <a:r>
              <a:t/>
            </a:r>
            <a:endParaRPr sz="1200">
              <a:solidFill>
                <a:srgbClr val="1F2328"/>
              </a:solidFill>
              <a:highlight>
                <a:srgbClr val="FFFFFF"/>
              </a:highlight>
            </a:endParaRPr>
          </a:p>
          <a:p>
            <a:pPr indent="0" lvl="0" marL="0" rtl="0" algn="l">
              <a:spcBef>
                <a:spcPts val="1200"/>
              </a:spcBef>
              <a:spcAft>
                <a:spcPts val="1200"/>
              </a:spcAft>
              <a:buNone/>
            </a:pPr>
            <a:r>
              <a:t/>
            </a:r>
            <a:endParaRPr sz="1200">
              <a:solidFill>
                <a:srgbClr val="1F2328"/>
              </a:solidFill>
              <a:highlight>
                <a:srgbClr val="FFFFFF"/>
              </a:highlight>
            </a:endParaRPr>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5" name="Google Shape;85;p16"/>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6"/>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8" name="Google Shape;88;p16"/>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Methodology</a:t>
            </a:r>
            <a:endParaRPr b="1"/>
          </a:p>
        </p:txBody>
      </p:sp>
      <p:sp>
        <p:nvSpPr>
          <p:cNvPr id="94" name="Google Shape;94;p17"/>
          <p:cNvSpPr txBox="1"/>
          <p:nvPr>
            <p:ph idx="1" type="body"/>
          </p:nvPr>
        </p:nvSpPr>
        <p:spPr>
          <a:xfrm>
            <a:off x="181625" y="1152475"/>
            <a:ext cx="8028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In order to address the aforementioned research questions, the 2024 Mid-Year City Progress data was obtained in CSV format from the City of Calgary's Open Data portal. Subsequently, the data was queried to establish a database within Microsoft SQL Server Management Studio. Following the creation of the database, the data was imported into Microsoft Power BI to develop an interactive dashboard that visualizes the key findings. Furthermore, previously conducted spring and fall 2024 surveys of Calgary residents were employed as supplementary information to enhance insights </a:t>
            </a:r>
            <a:r>
              <a:rPr lang="en"/>
              <a:t>for future policy recommendations.</a:t>
            </a:r>
            <a:endParaRPr/>
          </a:p>
          <a:p>
            <a:pPr indent="0" lvl="0" marL="0" rtl="0" algn="l">
              <a:spcBef>
                <a:spcPts val="1200"/>
              </a:spcBef>
              <a:spcAft>
                <a:spcPts val="1200"/>
              </a:spcAft>
              <a:buNone/>
            </a:pPr>
            <a:r>
              <a:t/>
            </a:r>
            <a:endParaRPr/>
          </a:p>
        </p:txBody>
      </p:sp>
      <p:sp>
        <p:nvSpPr>
          <p:cNvPr id="95" name="Google Shape;95;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96" name="Google Shape;96;p17"/>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97" name="Google Shape;97;p17"/>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7"/>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7"/>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Interpreting Results</a:t>
            </a:r>
            <a:endParaRPr b="1"/>
          </a:p>
        </p:txBody>
      </p:sp>
      <p:sp>
        <p:nvSpPr>
          <p:cNvPr id="105" name="Google Shape;105;p18"/>
          <p:cNvSpPr txBox="1"/>
          <p:nvPr>
            <p:ph idx="1" type="body"/>
          </p:nvPr>
        </p:nvSpPr>
        <p:spPr>
          <a:xfrm>
            <a:off x="311700" y="1152475"/>
            <a:ext cx="4130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Currently, 58.42% of performance measures are on track to meet their objectives. However, 8.59% are experiencing setbacks due to various challenges. Additionally, 32.99% of plans have not been reported, primarily due to insufficient data availability.</a:t>
            </a:r>
            <a:r>
              <a:rPr lang="en"/>
              <a:t> (</a:t>
            </a:r>
            <a:r>
              <a:rPr lang="en" sz="1200"/>
              <a:t>2024 Mid-Year Progress Update</a:t>
            </a:r>
            <a:r>
              <a:rPr lang="en"/>
              <a:t>)</a:t>
            </a:r>
            <a:endParaRPr/>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07" name="Google Shape;107;p18"/>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108" name="Google Shape;108;p18"/>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8"/>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8"/>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 name="Google Shape;111;p18"/>
          <p:cNvPicPr preferRelativeResize="0"/>
          <p:nvPr/>
        </p:nvPicPr>
        <p:blipFill>
          <a:blip r:embed="rId3">
            <a:alphaModFix/>
          </a:blip>
          <a:stretch>
            <a:fillRect/>
          </a:stretch>
        </p:blipFill>
        <p:spPr>
          <a:xfrm>
            <a:off x="4594800" y="2143374"/>
            <a:ext cx="3967372" cy="2497200"/>
          </a:xfrm>
          <a:prstGeom prst="rect">
            <a:avLst/>
          </a:prstGeom>
          <a:noFill/>
          <a:ln>
            <a:noFill/>
          </a:ln>
        </p:spPr>
      </p:pic>
      <p:pic>
        <p:nvPicPr>
          <p:cNvPr id="112" name="Google Shape;112;p18"/>
          <p:cNvPicPr preferRelativeResize="0"/>
          <p:nvPr/>
        </p:nvPicPr>
        <p:blipFill>
          <a:blip r:embed="rId4">
            <a:alphaModFix/>
          </a:blip>
          <a:stretch>
            <a:fillRect/>
          </a:stretch>
        </p:blipFill>
        <p:spPr>
          <a:xfrm>
            <a:off x="5315475" y="514350"/>
            <a:ext cx="2440500" cy="1723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Interpreting Results</a:t>
            </a:r>
            <a:endParaRPr b="1"/>
          </a:p>
        </p:txBody>
      </p:sp>
      <p:sp>
        <p:nvSpPr>
          <p:cNvPr id="118" name="Google Shape;118;p19"/>
          <p:cNvSpPr txBox="1"/>
          <p:nvPr>
            <p:ph idx="1" type="body"/>
          </p:nvPr>
        </p:nvSpPr>
        <p:spPr>
          <a:xfrm>
            <a:off x="311700" y="1152475"/>
            <a:ext cx="4130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00"/>
              <a:t>The 2024 Mid-Year analysis presents a wide range of reported categories, but I will concentrate on four critical areas: social equity, climate, transit, and housing issues, all of which are significant to the residents of Calgary. The accompanying graph indicates a strong emphasis on social equity relative to the other three issues. These findings reflect the priorities of the City Council, which may not necessarily align with the priorities of Calgary's citizens.</a:t>
            </a:r>
            <a:r>
              <a:rPr lang="en" sz="1600"/>
              <a:t> </a:t>
            </a:r>
            <a:endParaRPr sz="1600"/>
          </a:p>
        </p:txBody>
      </p:sp>
      <p:sp>
        <p:nvSpPr>
          <p:cNvPr id="119" name="Google Shape;11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20" name="Google Shape;120;p19"/>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121" name="Google Shape;121;p19"/>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9"/>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3" name="Google Shape;123;p19"/>
          <p:cNvPicPr preferRelativeResize="0"/>
          <p:nvPr/>
        </p:nvPicPr>
        <p:blipFill>
          <a:blip r:embed="rId3">
            <a:alphaModFix/>
          </a:blip>
          <a:stretch>
            <a:fillRect/>
          </a:stretch>
        </p:blipFill>
        <p:spPr>
          <a:xfrm>
            <a:off x="4642975" y="958525"/>
            <a:ext cx="3767725" cy="3610350"/>
          </a:xfrm>
          <a:prstGeom prst="rect">
            <a:avLst/>
          </a:prstGeom>
          <a:noFill/>
          <a:ln>
            <a:noFill/>
          </a:ln>
        </p:spPr>
      </p:pic>
      <p:sp>
        <p:nvSpPr>
          <p:cNvPr id="124" name="Google Shape;124;p19"/>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311700" y="167600"/>
            <a:ext cx="8520600" cy="5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Interpreting Results</a:t>
            </a:r>
            <a:endParaRPr b="1"/>
          </a:p>
        </p:txBody>
      </p:sp>
      <p:sp>
        <p:nvSpPr>
          <p:cNvPr id="130" name="Google Shape;130;p20"/>
          <p:cNvSpPr txBox="1"/>
          <p:nvPr>
            <p:ph idx="1" type="body"/>
          </p:nvPr>
        </p:nvSpPr>
        <p:spPr>
          <a:xfrm>
            <a:off x="311700" y="3124625"/>
            <a:ext cx="8160900" cy="1430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Clr>
                <a:schemeClr val="dk1"/>
              </a:buClr>
              <a:buSzPct val="84615"/>
              <a:buFont typeface="Arial"/>
              <a:buNone/>
            </a:pPr>
            <a:r>
              <a:rPr lang="en" sz="1300"/>
              <a:t>In analyzing the service values for 2024, a notable trend emerges: there are significantly fewer values recorded compared to 2023. This observation suggests that many initiatives and plans did not advance as anticipated throughout 2024. In response, the city appears to be strategizing for an increase in service values in the coming years. Specifically, critical areas such as public transit, water and recycling services, and affordable housing require urgent attention, as evidenced by the sharp increase in projected values for the future relative to those established for 2024. This indicates a pressing need for the city to prioritize these sectors moving forward.</a:t>
            </a:r>
            <a:endParaRPr sz="1300"/>
          </a:p>
        </p:txBody>
      </p:sp>
      <p:sp>
        <p:nvSpPr>
          <p:cNvPr id="131" name="Google Shape;13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32" name="Google Shape;132;p20"/>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133" name="Google Shape;133;p20"/>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0"/>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0"/>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6" name="Google Shape;136;p20"/>
          <p:cNvPicPr preferRelativeResize="0"/>
          <p:nvPr/>
        </p:nvPicPr>
        <p:blipFill>
          <a:blip r:embed="rId3">
            <a:alphaModFix/>
          </a:blip>
          <a:stretch>
            <a:fillRect/>
          </a:stretch>
        </p:blipFill>
        <p:spPr>
          <a:xfrm>
            <a:off x="695425" y="716625"/>
            <a:ext cx="7214400" cy="234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Limitations and Future Study</a:t>
            </a:r>
            <a:endParaRPr b="1"/>
          </a:p>
        </p:txBody>
      </p:sp>
      <p:sp>
        <p:nvSpPr>
          <p:cNvPr id="142" name="Google Shape;142;p21"/>
          <p:cNvSpPr txBox="1"/>
          <p:nvPr>
            <p:ph idx="1" type="body"/>
          </p:nvPr>
        </p:nvSpPr>
        <p:spPr>
          <a:xfrm>
            <a:off x="311700" y="1152475"/>
            <a:ext cx="79833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The data utilized for this study was obtained from the City of Calgary's open data portal, with the latest update recorded on November 5th, 2024. It is important to note that some information may be outdated or incomplete, primarily due to limited access to the comprehensive dataset maintained by the City of Calgary. Only publicly available data was included in this analysis. With the upcoming release of the 2025 Mid-Year City Progress report, more accurate and comprehensive data for the 2024 period will be accessible. This will provide an opportunity for deeper insights into data that was previously unavailable or unreported.</a:t>
            </a:r>
            <a:endParaRPr sz="1300"/>
          </a:p>
          <a:p>
            <a:pPr indent="0" lvl="0" marL="0" rtl="0" algn="l">
              <a:spcBef>
                <a:spcPts val="1200"/>
              </a:spcBef>
              <a:spcAft>
                <a:spcPts val="1200"/>
              </a:spcAft>
              <a:buNone/>
            </a:pPr>
            <a:r>
              <a:t/>
            </a:r>
            <a:endParaRPr/>
          </a:p>
        </p:txBody>
      </p: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44" name="Google Shape;144;p21"/>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145" name="Google Shape;145;p21"/>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1"/>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21"/>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References</a:t>
            </a:r>
            <a:endParaRPr b="1"/>
          </a:p>
        </p:txBody>
      </p:sp>
      <p:sp>
        <p:nvSpPr>
          <p:cNvPr id="153" name="Google Shape;15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4500"/>
              <a:t>City of Calgary. </a:t>
            </a:r>
            <a:r>
              <a:rPr i="1" lang="en" sz="4500"/>
              <a:t>2024 Fall Survey of Calgarians</a:t>
            </a:r>
            <a:r>
              <a:rPr lang="en" sz="4500"/>
              <a:t>. Retrieved 1 September 2025 from: </a:t>
            </a:r>
            <a:r>
              <a:rPr lang="en" sz="4500" u="sng">
                <a:solidFill>
                  <a:schemeClr val="accent5"/>
                </a:solidFill>
                <a:hlinkClick r:id="rId3">
                  <a:extLst>
                    <a:ext uri="{A12FA001-AC4F-418D-AE19-62706E023703}">
                      <ahyp:hlinkClr val="tx"/>
                    </a:ext>
                  </a:extLst>
                </a:hlinkClick>
              </a:rPr>
              <a:t>https://www.calgary.ca/content/dam/www/research-and-data/survey-calgarians/2024-fall-survey-of-calgarians.pdf</a:t>
            </a:r>
            <a:endParaRPr sz="4500">
              <a:solidFill>
                <a:schemeClr val="accent5"/>
              </a:solidFill>
            </a:endParaRPr>
          </a:p>
          <a:p>
            <a:pPr indent="0" lvl="0" marL="0" rtl="0" algn="l">
              <a:spcBef>
                <a:spcPts val="1200"/>
              </a:spcBef>
              <a:spcAft>
                <a:spcPts val="0"/>
              </a:spcAft>
              <a:buNone/>
            </a:pPr>
            <a:r>
              <a:rPr lang="en" sz="4500"/>
              <a:t>City of Calgary. </a:t>
            </a:r>
            <a:r>
              <a:rPr i="1" lang="en" sz="4500"/>
              <a:t>2024 Mid-Year Progress Update</a:t>
            </a:r>
            <a:r>
              <a:rPr lang="en" sz="4500"/>
              <a:t>. Retrieved 1 September 2025 from: </a:t>
            </a:r>
            <a:r>
              <a:rPr lang="en" sz="4500" u="sng">
                <a:solidFill>
                  <a:schemeClr val="accent5"/>
                </a:solidFill>
                <a:hlinkClick r:id="rId4">
                  <a:extLst>
                    <a:ext uri="{A12FA001-AC4F-418D-AE19-62706E023703}">
                      <ahyp:hlinkClr val="tx"/>
                    </a:ext>
                  </a:extLst>
                </a:hlinkClick>
              </a:rPr>
              <a:t>https://www.calgary.ca/content/dam/www/cfod/finance/documents/plans-budgets-and-financial-reports/2024-mid-year-progress-update.pdf</a:t>
            </a:r>
            <a:endParaRPr sz="4500">
              <a:solidFill>
                <a:schemeClr val="accent5"/>
              </a:solidFill>
            </a:endParaRPr>
          </a:p>
          <a:p>
            <a:pPr indent="0" lvl="0" marL="0" rtl="0" algn="l">
              <a:spcBef>
                <a:spcPts val="1200"/>
              </a:spcBef>
              <a:spcAft>
                <a:spcPts val="0"/>
              </a:spcAft>
              <a:buNone/>
            </a:pPr>
            <a:r>
              <a:rPr lang="en" sz="4500"/>
              <a:t>City of Calgary. </a:t>
            </a:r>
            <a:r>
              <a:rPr i="1" lang="en" sz="4500"/>
              <a:t>2024 Spring </a:t>
            </a:r>
            <a:r>
              <a:rPr i="1" lang="en" sz="4500"/>
              <a:t>Survey</a:t>
            </a:r>
            <a:r>
              <a:rPr i="1" lang="en" sz="4500"/>
              <a:t> of Calgarians</a:t>
            </a:r>
            <a:r>
              <a:rPr lang="en" sz="4500"/>
              <a:t>. Retrieved 1 September 2025 from: </a:t>
            </a:r>
            <a:r>
              <a:rPr lang="en" sz="4500" u="sng">
                <a:solidFill>
                  <a:schemeClr val="accent5"/>
                </a:solidFill>
                <a:hlinkClick r:id="rId5">
                  <a:extLst>
                    <a:ext uri="{A12FA001-AC4F-418D-AE19-62706E023703}">
                      <ahyp:hlinkClr val="tx"/>
                    </a:ext>
                  </a:extLst>
                </a:hlinkClick>
              </a:rPr>
              <a:t>https://www.calgary.ca/content/dam/www/cfod/csc/documents/cit-sat/2024-Spring-Survey-of-Calgarians-Final-Report.pdf</a:t>
            </a:r>
            <a:endParaRPr sz="4500">
              <a:solidFill>
                <a:schemeClr val="accent5"/>
              </a:solidFill>
            </a:endParaRPr>
          </a:p>
          <a:p>
            <a:pPr indent="0" lvl="0" marL="0" rtl="0" algn="l">
              <a:spcBef>
                <a:spcPts val="1200"/>
              </a:spcBef>
              <a:spcAft>
                <a:spcPts val="0"/>
              </a:spcAft>
              <a:buNone/>
            </a:pPr>
            <a:r>
              <a:rPr lang="en" sz="4500"/>
              <a:t>City of Calgary. </a:t>
            </a:r>
            <a:r>
              <a:rPr i="1" lang="en" sz="4500"/>
              <a:t>Tyler Data &amp; insights</a:t>
            </a:r>
            <a:r>
              <a:rPr lang="en" sz="4500"/>
              <a:t>. R</a:t>
            </a:r>
            <a:r>
              <a:rPr lang="en" sz="4500"/>
              <a:t>etrieved</a:t>
            </a:r>
            <a:r>
              <a:rPr lang="en" sz="4500"/>
              <a:t> 31 July 2025 from: </a:t>
            </a:r>
            <a:r>
              <a:rPr lang="en" sz="4500" u="sng">
                <a:solidFill>
                  <a:schemeClr val="accent5"/>
                </a:solidFill>
                <a:highlight>
                  <a:srgbClr val="FFFFFF"/>
                </a:highlight>
                <a:hlinkClick r:id="rId6">
                  <a:extLst>
                    <a:ext uri="{A12FA001-AC4F-418D-AE19-62706E023703}">
                      <ahyp:hlinkClr val="tx"/>
                    </a:ext>
                  </a:extLst>
                </a:hlinkClick>
              </a:rPr>
              <a:t>https://data.calgary.ca/Business-and-Economic-Activity/2024-Mid-Year-Progress-Report-Performance-Measures/2tzz-grag/about_data</a:t>
            </a:r>
            <a:endParaRPr sz="4500">
              <a:solidFill>
                <a:schemeClr val="accent5"/>
              </a:solidFill>
            </a:endParaRPr>
          </a:p>
          <a:p>
            <a:pPr indent="0" lvl="0" marL="0" rtl="0" algn="l">
              <a:spcBef>
                <a:spcPts val="1200"/>
              </a:spcBef>
              <a:spcAft>
                <a:spcPts val="0"/>
              </a:spcAft>
              <a:buNone/>
            </a:pPr>
            <a:r>
              <a:rPr lang="en" sz="4500"/>
              <a:t>Hassan, H. (2025). </a:t>
            </a:r>
            <a:r>
              <a:rPr i="1" lang="en" sz="4500"/>
              <a:t>City Hall</a:t>
            </a:r>
            <a:r>
              <a:rPr lang="en" sz="4500"/>
              <a:t>. [Photograph]</a:t>
            </a:r>
            <a:endParaRPr sz="4500"/>
          </a:p>
          <a:p>
            <a:pPr indent="0" lvl="0" marL="0" rtl="0" algn="l">
              <a:spcBef>
                <a:spcPts val="1200"/>
              </a:spcBef>
              <a:spcAft>
                <a:spcPts val="0"/>
              </a:spcAft>
              <a:buNone/>
            </a:pPr>
            <a:r>
              <a:rPr lang="en" sz="4500"/>
              <a:t>PNG Tree (2022)</a:t>
            </a:r>
            <a:r>
              <a:rPr i="1" lang="en" sz="4500"/>
              <a:t>Calgary Canada City Skyline Vector Silhouette Black Office Calgary Vector</a:t>
            </a:r>
            <a:r>
              <a:rPr lang="en" sz="4500"/>
              <a:t>. </a:t>
            </a:r>
            <a:r>
              <a:rPr lang="en" sz="4500"/>
              <a:t>Retrieved</a:t>
            </a:r>
            <a:r>
              <a:rPr lang="en" sz="4500"/>
              <a:t> 10 September 2025 from:</a:t>
            </a:r>
            <a:r>
              <a:rPr lang="en" sz="4500" u="sng">
                <a:solidFill>
                  <a:schemeClr val="hlink"/>
                </a:solidFill>
                <a:hlinkClick r:id="rId7"/>
              </a:rPr>
              <a:t>https://pngtree.com/freepng/calgary-canada-city-skyline-vector-silhouette-black-office-calgary-vector_9424892.html</a:t>
            </a:r>
            <a:endParaRPr sz="4500"/>
          </a:p>
          <a:p>
            <a:pPr indent="0" lvl="0" marL="0" rtl="0" algn="l">
              <a:spcBef>
                <a:spcPts val="1200"/>
              </a:spcBef>
              <a:spcAft>
                <a:spcPts val="0"/>
              </a:spcAft>
              <a:buNone/>
            </a:pPr>
            <a:r>
              <a:t/>
            </a:r>
            <a:endParaRPr sz="1150"/>
          </a:p>
          <a:p>
            <a:pPr indent="0" lvl="0" marL="0" rtl="0" algn="l">
              <a:spcBef>
                <a:spcPts val="1200"/>
              </a:spcBef>
              <a:spcAft>
                <a:spcPts val="0"/>
              </a:spcAft>
              <a:buNone/>
            </a:pPr>
            <a:r>
              <a:t/>
            </a:r>
            <a:endParaRPr sz="1150"/>
          </a:p>
          <a:p>
            <a:pPr indent="0" lvl="0" marL="0" rtl="0" algn="l">
              <a:spcBef>
                <a:spcPts val="1200"/>
              </a:spcBef>
              <a:spcAft>
                <a:spcPts val="0"/>
              </a:spcAft>
              <a:buNone/>
            </a:pPr>
            <a:r>
              <a:t/>
            </a:r>
            <a:endParaRPr sz="1200"/>
          </a:p>
          <a:p>
            <a:pPr indent="0" lvl="0" marL="0" rtl="0" algn="l">
              <a:spcBef>
                <a:spcPts val="1200"/>
              </a:spcBef>
              <a:spcAft>
                <a:spcPts val="1200"/>
              </a:spcAft>
              <a:buNone/>
            </a:pPr>
            <a:r>
              <a:t/>
            </a:r>
            <a:endParaRPr sz="1200"/>
          </a:p>
        </p:txBody>
      </p:sp>
      <p:sp>
        <p:nvSpPr>
          <p:cNvPr id="154" name="Google Shape;154;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55" name="Google Shape;155;p22"/>
          <p:cNvCxnSpPr/>
          <p:nvPr/>
        </p:nvCxnSpPr>
        <p:spPr>
          <a:xfrm>
            <a:off x="1981500" y="4860025"/>
            <a:ext cx="5181000" cy="0"/>
          </a:xfrm>
          <a:prstGeom prst="straightConnector1">
            <a:avLst/>
          </a:prstGeom>
          <a:noFill/>
          <a:ln cap="flat" cmpd="sng" w="38100">
            <a:solidFill>
              <a:srgbClr val="980000"/>
            </a:solidFill>
            <a:prstDash val="solid"/>
            <a:round/>
            <a:headEnd len="med" w="med" type="diamond"/>
            <a:tailEnd len="med" w="med" type="diamond"/>
          </a:ln>
        </p:spPr>
      </p:cxnSp>
      <p:sp>
        <p:nvSpPr>
          <p:cNvPr id="156" name="Google Shape;156;p22"/>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22"/>
          <p:cNvSpPr/>
          <p:nvPr/>
        </p:nvSpPr>
        <p:spPr>
          <a:xfrm rot="10800000">
            <a:off x="7601700" y="-125"/>
            <a:ext cx="1542300" cy="1333200"/>
          </a:xfrm>
          <a:prstGeom prst="rtTriangle">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2"/>
          <p:cNvSpPr/>
          <p:nvPr/>
        </p:nvSpPr>
        <p:spPr>
          <a:xfrm rot="1824843">
            <a:off x="8604173" y="146609"/>
            <a:ext cx="1083269" cy="1850051"/>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